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d9a70f2a8d94613" /><Relationship Type="http://schemas.openxmlformats.org/officeDocument/2006/relationships/extended-properties" Target="/docProps/app.xml" Id="R05e08c8b6a594563" /><Relationship Type="http://schemas.openxmlformats.org/officeDocument/2006/relationships/officeDocument" Target="/ppt/presentation.xml" Id="R097464c996d4449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ec864d6c684f9f"/>
  </p:sldMasterIdLst>
  <p:notesMasterIdLst>
    <p:notesMasterId xmlns:r="http://schemas.openxmlformats.org/officeDocument/2006/relationships" r:id="R23c482f0e0f248d0"/>
  </p:notesMasterIdLst>
  <p:sldIdLst>
    <p:sldId xmlns:r="http://schemas.openxmlformats.org/officeDocument/2006/relationships" id="256" r:id="Ra8bf20a4e0184ed6"/>
    <p:sldId xmlns:r="http://schemas.openxmlformats.org/officeDocument/2006/relationships" id="257" r:id="R7fd5a7548da148f1"/>
    <p:sldId xmlns:r="http://schemas.openxmlformats.org/officeDocument/2006/relationships" id="258" r:id="R0703a912e2a64048"/>
    <p:sldId xmlns:r="http://schemas.openxmlformats.org/officeDocument/2006/relationships" id="259" r:id="Rded14efaf16b4065"/>
    <p:sldId xmlns:r="http://schemas.openxmlformats.org/officeDocument/2006/relationships" id="260" r:id="R387895720de44c9e"/>
    <p:sldId xmlns:r="http://schemas.openxmlformats.org/officeDocument/2006/relationships" id="261" r:id="Rc1264c19706b4575"/>
    <p:sldId xmlns:r="http://schemas.openxmlformats.org/officeDocument/2006/relationships" id="262" r:id="Ra4fe096f26544a08"/>
    <p:sldId xmlns:r="http://schemas.openxmlformats.org/officeDocument/2006/relationships" id="263" r:id="Rbeb4edacde6e4a43"/>
    <p:sldId xmlns:r="http://schemas.openxmlformats.org/officeDocument/2006/relationships" id="264" r:id="Rd933bc144b7e4de2"/>
    <p:sldId xmlns:r="http://schemas.openxmlformats.org/officeDocument/2006/relationships" id="265" r:id="R0a0300aee6644441"/>
    <p:sldId xmlns:r="http://schemas.openxmlformats.org/officeDocument/2006/relationships" id="266" r:id="R0fffb8f77b5b482c"/>
    <p:sldId xmlns:r="http://schemas.openxmlformats.org/officeDocument/2006/relationships" id="267" r:id="R52693055060546ab"/>
    <p:sldId xmlns:r="http://schemas.openxmlformats.org/officeDocument/2006/relationships" id="268" r:id="R3a6d739a4c2b4f83"/>
    <p:sldId xmlns:r="http://schemas.openxmlformats.org/officeDocument/2006/relationships" id="269" r:id="R53157328141c493f"/>
    <p:sldId xmlns:r="http://schemas.openxmlformats.org/officeDocument/2006/relationships" id="270" r:id="Rd446010ddb874e88"/>
    <p:sldId xmlns:r="http://schemas.openxmlformats.org/officeDocument/2006/relationships" id="271" r:id="R3d862529a69e4fb3"/>
    <p:sldId xmlns:r="http://schemas.openxmlformats.org/officeDocument/2006/relationships" id="272" r:id="Red5dbe25b4eb4529"/>
    <p:sldId xmlns:r="http://schemas.openxmlformats.org/officeDocument/2006/relationships" id="273" r:id="Rb95265d5cae94a02"/>
    <p:sldId xmlns:r="http://schemas.openxmlformats.org/officeDocument/2006/relationships" id="274" r:id="Rb6803a85c8394357"/>
    <p:sldId xmlns:r="http://schemas.openxmlformats.org/officeDocument/2006/relationships" id="275" r:id="R88de75a909394a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82d56862654f2a" /><Relationship Type="http://schemas.openxmlformats.org/officeDocument/2006/relationships/slideMaster" Target="/ppt/slideMasters/slideMaster1.xml" Id="R3bec864d6c684f9f" /><Relationship Type="http://schemas.openxmlformats.org/officeDocument/2006/relationships/notesMaster" Target="/ppt/notesMasters/notesMaster1.xml" Id="R23c482f0e0f248d0" /><Relationship Type="http://schemas.openxmlformats.org/officeDocument/2006/relationships/presProps" Target="/ppt/presProps.xml" Id="R5988c4dfa3f446d6" /><Relationship Type="http://schemas.openxmlformats.org/officeDocument/2006/relationships/tableStyles" Target="/ppt/tableStyles.xml" Id="R9adf50ce599444aa" /><Relationship Type="http://schemas.openxmlformats.org/officeDocument/2006/relationships/slide" Target="/ppt/slides/slide1.xml" Id="Ra8bf20a4e0184ed6" /><Relationship Type="http://schemas.openxmlformats.org/officeDocument/2006/relationships/slide" Target="/ppt/slides/slide2.xml" Id="R7fd5a7548da148f1" /><Relationship Type="http://schemas.openxmlformats.org/officeDocument/2006/relationships/slide" Target="/ppt/slides/slide3.xml" Id="R0703a912e2a64048" /><Relationship Type="http://schemas.openxmlformats.org/officeDocument/2006/relationships/slide" Target="/ppt/slides/slide4.xml" Id="Rded14efaf16b4065" /><Relationship Type="http://schemas.openxmlformats.org/officeDocument/2006/relationships/slide" Target="/ppt/slides/slide5.xml" Id="R387895720de44c9e" /><Relationship Type="http://schemas.openxmlformats.org/officeDocument/2006/relationships/slide" Target="/ppt/slides/slide6.xml" Id="Rc1264c19706b4575" /><Relationship Type="http://schemas.openxmlformats.org/officeDocument/2006/relationships/slide" Target="/ppt/slides/slide7.xml" Id="Ra4fe096f26544a08" /><Relationship Type="http://schemas.openxmlformats.org/officeDocument/2006/relationships/slide" Target="/ppt/slides/slide8.xml" Id="Rbeb4edacde6e4a43" /><Relationship Type="http://schemas.openxmlformats.org/officeDocument/2006/relationships/slide" Target="/ppt/slides/slide9.xml" Id="Rd933bc144b7e4de2" /><Relationship Type="http://schemas.openxmlformats.org/officeDocument/2006/relationships/slide" Target="/ppt/slides/slide10.xml" Id="R0a0300aee6644441" /><Relationship Type="http://schemas.openxmlformats.org/officeDocument/2006/relationships/slide" Target="/ppt/slides/slide11.xml" Id="R0fffb8f77b5b482c" /><Relationship Type="http://schemas.openxmlformats.org/officeDocument/2006/relationships/slide" Target="/ppt/slides/slide12.xml" Id="R52693055060546ab" /><Relationship Type="http://schemas.openxmlformats.org/officeDocument/2006/relationships/slide" Target="/ppt/slides/slide13.xml" Id="R3a6d739a4c2b4f83" /><Relationship Type="http://schemas.openxmlformats.org/officeDocument/2006/relationships/slide" Target="/ppt/slides/slide14.xml" Id="R53157328141c493f" /><Relationship Type="http://schemas.openxmlformats.org/officeDocument/2006/relationships/slide" Target="/ppt/slides/slide15.xml" Id="Rd446010ddb874e88" /><Relationship Type="http://schemas.openxmlformats.org/officeDocument/2006/relationships/slide" Target="/ppt/slides/slide16.xml" Id="R3d862529a69e4fb3" /><Relationship Type="http://schemas.openxmlformats.org/officeDocument/2006/relationships/slide" Target="/ppt/slides/slide17.xml" Id="Red5dbe25b4eb4529" /><Relationship Type="http://schemas.openxmlformats.org/officeDocument/2006/relationships/slide" Target="/ppt/slides/slide18.xml" Id="Rb95265d5cae94a02" /><Relationship Type="http://schemas.openxmlformats.org/officeDocument/2006/relationships/slide" Target="/ppt/slides/slide19.xml" Id="Rb6803a85c8394357" /><Relationship Type="http://schemas.openxmlformats.org/officeDocument/2006/relationships/slide" Target="/ppt/slides/slide20.xml" Id="R88de75a90939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63a04d3f0744c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b29504bef140e2" /><Relationship Type="http://schemas.openxmlformats.org/officeDocument/2006/relationships/notesMaster" Target="/ppt/notesMasters/notesMaster1.xml" Id="R53deb5720fe1400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03f36a494e4a92" /><Relationship Type="http://schemas.openxmlformats.org/officeDocument/2006/relationships/notesMaster" Target="/ppt/notesMasters/notesMaster1.xml" Id="R3406b23add46443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f65c2dc7d141af" /><Relationship Type="http://schemas.openxmlformats.org/officeDocument/2006/relationships/notesMaster" Target="/ppt/notesMasters/notesMaster1.xml" Id="R00155e2c31754e1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c7f37d25e74004" /><Relationship Type="http://schemas.openxmlformats.org/officeDocument/2006/relationships/notesMaster" Target="/ppt/notesMasters/notesMaster1.xml" Id="Re5760a7f596f4a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03d773df8649b6" /><Relationship Type="http://schemas.openxmlformats.org/officeDocument/2006/relationships/notesMaster" Target="/ppt/notesMasters/notesMaster1.xml" Id="R5d29a349d31e4a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d8dc3891ab94544" /><Relationship Type="http://schemas.openxmlformats.org/officeDocument/2006/relationships/notesMaster" Target="/ppt/notesMasters/notesMaster1.xml" Id="R6b30c0249033481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e592f972774888" /><Relationship Type="http://schemas.openxmlformats.org/officeDocument/2006/relationships/notesMaster" Target="/ppt/notesMasters/notesMaster1.xml" Id="R35658d96b76f4ff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238c957eab24280" /><Relationship Type="http://schemas.openxmlformats.org/officeDocument/2006/relationships/notesMaster" Target="/ppt/notesMasters/notesMaster1.xml" Id="R5fc872dbd99f40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3fcd3af1ec4e09" /><Relationship Type="http://schemas.openxmlformats.org/officeDocument/2006/relationships/notesMaster" Target="/ppt/notesMasters/notesMaster1.xml" Id="R7aa1a26a35244e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84b0e2ff784aea" /><Relationship Type="http://schemas.openxmlformats.org/officeDocument/2006/relationships/notesMaster" Target="/ppt/notesMasters/notesMaster1.xml" Id="Rf5438ec74cbc4a7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2107c8faef34916" /><Relationship Type="http://schemas.openxmlformats.org/officeDocument/2006/relationships/notesMaster" Target="/ppt/notesMasters/notesMaster1.xml" Id="Reb7c89952cf34e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2556f15497432c" /><Relationship Type="http://schemas.openxmlformats.org/officeDocument/2006/relationships/notesMaster" Target="/ppt/notesMasters/notesMaster1.xml" Id="R8ee5a40c02ab4a0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7c59b7a06a4c5f" /><Relationship Type="http://schemas.openxmlformats.org/officeDocument/2006/relationships/notesMaster" Target="/ppt/notesMasters/notesMaster1.xml" Id="Rfcdec3824bb84b1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8c238736414e45" /><Relationship Type="http://schemas.openxmlformats.org/officeDocument/2006/relationships/notesMaster" Target="/ppt/notesMasters/notesMaster1.xml" Id="R54d8f861a4bd46b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9a973cbe2b4def" /><Relationship Type="http://schemas.openxmlformats.org/officeDocument/2006/relationships/notesMaster" Target="/ppt/notesMasters/notesMaster1.xml" Id="Rce507d6790fa4e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9747fc9f744821" /><Relationship Type="http://schemas.openxmlformats.org/officeDocument/2006/relationships/notesMaster" Target="/ppt/notesMasters/notesMaster1.xml" Id="R952cef959c90416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2ae692518ac45ec" /><Relationship Type="http://schemas.openxmlformats.org/officeDocument/2006/relationships/notesMaster" Target="/ppt/notesMasters/notesMaster1.xml" Id="Rdf9344f326164ff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ce43199bb584ed2" /><Relationship Type="http://schemas.openxmlformats.org/officeDocument/2006/relationships/notesMaster" Target="/ppt/notesMasters/notesMaster1.xml" Id="Re06e270367b5475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6780793e9e34838" /><Relationship Type="http://schemas.openxmlformats.org/officeDocument/2006/relationships/notesMaster" Target="/ppt/notesMasters/notesMaster1.xml" Id="R5d938499d2484d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cb3425ee6cb46f0" /><Relationship Type="http://schemas.openxmlformats.org/officeDocument/2006/relationships/notesMaster" Target="/ppt/notesMasters/notesMaster1.xml" Id="R78c24e9dc9e148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https://docs.aws.amazon.com/connect/latest/adminguide/a2a-setup-external.html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https://docs.aws.amazon.com/connect/latest/adminguide/acxd.html</a:t>
            </a:r>
          </a:p>
          <a:p xmlns:a="http://schemas.openxmlformats.org/drawingml/2006/main">
            <a:r>
              <a:t>https://docs.aws.amazon.com/connect/latest/adminguide/a2a-setup-external.html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https://docs.aws.amazon.com/connect/latest/adminguide/acxd-testing.html</a:t>
            </a:r>
          </a:p>
          <a:p xmlns:a="http://schemas.openxmlformats.org/drawingml/2006/main">
            <a:r>
              <a:t>https://docs.aws.amazon.com/connect/latest/adminguide/testing-simulation.html</a:t>
            </a:r>
          </a:p>
          <a:p xmlns:a="http://schemas.openxmlformats.org/drawingml/2006/main">
            <a:r>
              <a:t>https://aws.amazon.com/about-aws/whats-new/2026/10/connect-customer-validate-flow-actions/</a:t>
            </a:r>
          </a:p>
          <a:p xmlns:a="http://schemas.openxmlformats.org/drawingml/2006/main">
            <a:r>
              <a:t>https://elevenlabs.io/docs/eleven-agents/customization/agent-testing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/Users/jamescregeen/Code_Projects/Voice_Harness/docs/DELEGATE_ADAPTIVE_SCOPE.md</a:t>
            </a:r>
          </a:p>
          <a:p xmlns:a="http://schemas.openxmlformats.org/drawingml/2006/main">
            <a:r>
              <a:t>/Users/jamescregeen/Code_Projects/Voice_Harness/docs/INTERACTIVE_CALLER_SCOPE.md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/Users/jamescregeen/Code_Projects/Voice_Harness/docs/BAKEOFF_SAFEGUARDS.md</a:t>
            </a:r>
          </a:p>
          <a:p xmlns:a="http://schemas.openxmlformats.org/drawingml/2006/main">
            <a:r>
              <a:t>/Users/jamescregeen/Code_Projects/Voice_Harness/docs/BAKEOFF_ASSESSORS.md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/Users/jamescregeen/Code_Projects/Voice_Harness/docs/BAKEOFF_SAFEGUARDS.md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/Users/jamescregeen/Code_Projects/Voice_Harness/docs/BAKEOFF_SAFEGUARDS.md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/Users/jamescregeen/Code_Projects/Voice_Harness/docs/BAKEOFF_SAFEGUARDS.md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/Users/jamescregeen/Code_Projects/Voice_Harness/docs/BAKEOFF_ASSESSORS.md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https://docs.aws.amazon.com/connect/latest/adminguide/a2a-setup-external.html</a:t>
            </a:r>
          </a:p>
          <a:p xmlns:a="http://schemas.openxmlformats.org/drawingml/2006/main">
            <a:r>
              <a:t>https://docs.aws.amazon.com/connect/latest/adminguide/acxd.html</a:t>
            </a:r>
          </a:p>
          <a:p xmlns:a="http://schemas.openxmlformats.org/drawingml/2006/main">
            <a:r>
              <a:t>/Users/jamescregeen/Code_Projects/Voice_Harness/docs/BAKEOFF_SAFEGUARDS.md</a:t>
            </a:r>
          </a:p>
          <a:p xmlns:a="http://schemas.openxmlformats.org/drawingml/2006/main">
            <a:r>
              <a:t>/Users/jamescregeen/Code_Projects/Voice_Harness/docs/DELEGATE_PHONE_RUNBOOK.md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https://docs.aws.amazon.com/connect/latest/adminguide/a2a-setup-external.html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/Users/jamescregeen/Code_Projects/Voice_Harness/docs/BAKEOFF_SAFEGUARDS.md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https://docs.aws.amazon.com/connect/latest/adminguide/a2a-setup-external.html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/Users/jamescregeen/Code_Projects/Voice_Harness/README.md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/Users/jamescregeen/Code_Projects/Voice_Harness/docs/DELEGATE_ADAPTIVE_SCOPE.md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and interpretation</a:t>
            </a:r>
          </a:p>
          <a:p xmlns:a="http://schemas.openxmlformats.org/drawingml/2006/main">
            <a:r>
              <a:t>/Users/jamescregeen/Code_Projects/Voice_Harness/artifacts/bakeoff-2026-10-29-standard-5/report.json</a:t>
            </a:r>
          </a:p>
          <a:p xmlns:a="http://schemas.openxmlformats.org/drawingml/2006/main">
            <a:r>
              <a:t>/Users/jamescregeen/Code_Projects/Voice_Harness/artifacts/bakeoff-2026-10-29-standard-5/run-notes.md</a:t>
            </a:r>
          </a:p>
          <a:p xmlns:a="http://schemas.openxmlformats.org/drawingml/2006/main">
            <a:r>
              <a:t>/Users/jamescregeen/Code_Projects/Voice_Harness/docs/BAKEOFF_SAFEGUARDS.md</a:t>
            </a:r>
          </a:p>
          <a:p xmlns:a="http://schemas.openxmlformats.org/drawingml/2006/main">
            <a:r>
              <a:t>/Users/jamescregeen/Code_Projects/Voice_Harness/docs/BAKEOFF_ASSESSORS.md</a:t>
            </a:r>
          </a:p>
          <a:p xmlns:a="http://schemas.openxmlformats.org/drawingml/2006/main">
            <a:r>
              <a:t>https://docs.aws.amazon.com/connect/latest/adminguide/acxd.html</a:t>
            </a:r>
          </a:p>
          <a:p xmlns:a="http://schemas.openxmlformats.org/drawingml/2006/main">
            <a:r>
              <a:t>https://docs.aws.amazon.com/connect/latest/adminguide/a2a-setup-external.html</a:t>
            </a:r>
          </a:p>
          <a:p xmlns:a="http://schemas.openxmlformats.org/drawingml/2006/main">
            <a:r>
              <a:t>https://docs.aws.amazon.com/connect/latest/adminguide/testing-simulation.html</a:t>
            </a:r>
          </a:p>
          <a:p xmlns:a="http://schemas.openxmlformats.org/drawingml/2006/main">
            <a:r>
              <a:t>https://docs.aws.amazon.com/connect/latest/adminguide/acxd-testing.html</a:t>
            </a:r>
          </a:p>
          <a:p xmlns:a="http://schemas.openxmlformats.org/drawingml/2006/main">
            <a:r>
              <a:t>https://elevenlabs.io/docs/eleven-agents/customization/agent-testing</a:t>
            </a:r>
          </a:p>
          <a:p xmlns:a="http://schemas.openxmlformats.org/drawingml/2006/main">
            <a:r>
              <a:t>Research accessed 31 October 2026. Internal provider/model names reflect the recorded run bindings. These observations do not certify any model or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13584715174a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b54fb16ee9472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2092515eb44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b09f309c954bc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0ed214fb6f40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515d3986844b6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D28F94A-2F80-48E8-8151-6F2EE7E475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93D7C86-404D-4C85-9672-6C24E65DCFD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9FEC798-5621-4948-AA39-562EBADFEC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81C2C3D-51F1-4C33-AD23-C7BC71054C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FE9D95E-BFD2-4873-B9FD-017D68352BE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AEDEBEA-110A-464C-9691-992FC708C9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312CAB1-9668-4168-B4FA-B41DC92C79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5244B4-D85A-410A-8ADB-64625A43EC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2CB49C2-69A5-4C19-A5DD-62EF21862E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B1B02D2-B992-4E32-80A0-25961AEF7FA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a30b8bae146e2" /><Relationship Type="http://schemas.openxmlformats.org/officeDocument/2006/relationships/slideLayout" Target="/ppt/slideLayouts/slideLayout1.xml" Id="R1561e378a0344424" /><Relationship Type="http://schemas.openxmlformats.org/officeDocument/2006/relationships/slideLayout" Target="/ppt/slideLayouts/slideLayout2.xml" Id="R1bc8503e8f954e72" /><Relationship Type="http://schemas.openxmlformats.org/officeDocument/2006/relationships/slideLayout" Target="/ppt/slideLayouts/slideLayout3.xml" Id="R4cea38f988ca419f" /><Relationship Type="http://schemas.openxmlformats.org/officeDocument/2006/relationships/slideLayout" Target="/ppt/slideLayouts/slideLayout4.xml" Id="R820fb4e389844f52" /><Relationship Type="http://schemas.openxmlformats.org/officeDocument/2006/relationships/slideLayout" Target="/ppt/slideLayouts/slideLayout5.xml" Id="Ref58622a55454e99" /><Relationship Type="http://schemas.openxmlformats.org/officeDocument/2006/relationships/slideLayout" Target="/ppt/slideLayouts/slideLayout6.xml" Id="R851847725b66445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561e378a0344424"/>
    <p:sldLayoutId xmlns:r="http://schemas.openxmlformats.org/officeDocument/2006/relationships" id="2147483650" r:id="R1bc8503e8f954e72"/>
    <p:sldLayoutId xmlns:r="http://schemas.openxmlformats.org/officeDocument/2006/relationships" id="2147483651" r:id="R4cea38f988ca419f"/>
    <p:sldLayoutId xmlns:r="http://schemas.openxmlformats.org/officeDocument/2006/relationships" id="2147483652" r:id="R820fb4e389844f52"/>
    <p:sldLayoutId xmlns:r="http://schemas.openxmlformats.org/officeDocument/2006/relationships" id="2147483653" r:id="Ref58622a55454e99"/>
    <p:sldLayoutId xmlns:r="http://schemas.openxmlformats.org/officeDocument/2006/relationships" id="2147483654" r:id="R851847725b66445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22c2829374f39" /><Relationship Type="http://schemas.openxmlformats.org/officeDocument/2006/relationships/notesSlide" Target="/ppt/notesSlides/notesSlide1.xml" Id="Ra79f5a549e6d4e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865c7725ff481a" /><Relationship Type="http://schemas.openxmlformats.org/officeDocument/2006/relationships/notesSlide" Target="/ppt/notesSlides/notesSlide2.xml" Id="R3895e226ee71479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1ba13ca784a80" /><Relationship Type="http://schemas.openxmlformats.org/officeDocument/2006/relationships/notesSlide" Target="/ppt/notesSlides/notesSlide3.xml" Id="R378a70a9a0a947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79fd079f2487e" /><Relationship Type="http://schemas.openxmlformats.org/officeDocument/2006/relationships/notesSlide" Target="/ppt/notesSlides/notesSlide4.xml" Id="R02dc4b5738114c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e0d48114184e88" /><Relationship Type="http://schemas.openxmlformats.org/officeDocument/2006/relationships/notesSlide" Target="/ppt/notesSlides/notesSlide5.xml" Id="Red8cf3277ae547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7567f71a5a4398" /><Relationship Type="http://schemas.openxmlformats.org/officeDocument/2006/relationships/notesSlide" Target="/ppt/notesSlides/notesSlide6.xml" Id="R4e0e94809afb4c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f119e618df40e6" /><Relationship Type="http://schemas.openxmlformats.org/officeDocument/2006/relationships/notesSlide" Target="/ppt/notesSlides/notesSlide7.xml" Id="Rd5e699b8670e422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39c3941d564f0a" /><Relationship Type="http://schemas.openxmlformats.org/officeDocument/2006/relationships/notesSlide" Target="/ppt/notesSlides/notesSlide8.xml" Id="R398ae1c472fd4a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9549816dd74df9" /><Relationship Type="http://schemas.openxmlformats.org/officeDocument/2006/relationships/notesSlide" Target="/ppt/notesSlides/notesSlide9.xml" Id="R2bd33297ddaa426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491b4ba0f35454e" /><Relationship Type="http://schemas.openxmlformats.org/officeDocument/2006/relationships/notesSlide" Target="/ppt/notesSlides/notesSlide10.xml" Id="Rde3db12538ff463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8677f132144e17" /><Relationship Type="http://schemas.openxmlformats.org/officeDocument/2006/relationships/notesSlide" Target="/ppt/notesSlides/notesSlide11.xml" Id="R1c0267f5bb21468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e1385777304547" /><Relationship Type="http://schemas.openxmlformats.org/officeDocument/2006/relationships/notesSlide" Target="/ppt/notesSlides/notesSlide12.xml" Id="R03267868917c4a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c633d1234c4c3b" /><Relationship Type="http://schemas.openxmlformats.org/officeDocument/2006/relationships/notesSlide" Target="/ppt/notesSlides/notesSlide13.xml" Id="R8988baa306db4f7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b897c42aac4336" /><Relationship Type="http://schemas.openxmlformats.org/officeDocument/2006/relationships/notesSlide" Target="/ppt/notesSlides/notesSlide14.xml" Id="R9ad6edf1a9fe429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f6a71c7598412e" /><Relationship Type="http://schemas.openxmlformats.org/officeDocument/2006/relationships/notesSlide" Target="/ppt/notesSlides/notesSlide15.xml" Id="R3a18d435504b4c7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1fec8d255e46bd" /><Relationship Type="http://schemas.openxmlformats.org/officeDocument/2006/relationships/notesSlide" Target="/ppt/notesSlides/notesSlide16.xml" Id="R95c0448999e94f6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9f30cc64e44a86" /><Relationship Type="http://schemas.openxmlformats.org/officeDocument/2006/relationships/notesSlide" Target="/ppt/notesSlides/notesSlide17.xml" Id="R1416854e4ec94b0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85229ac8914087" /><Relationship Type="http://schemas.openxmlformats.org/officeDocument/2006/relationships/image" Target="/ppt/media/image.png" Id="R6476cf0496044e93" /><Relationship Type="http://schemas.openxmlformats.org/officeDocument/2006/relationships/notesSlide" Target="/ppt/notesSlides/notesSlide18.xml" Id="R52f7655be90e45d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441d2ca5d644704" /><Relationship Type="http://schemas.openxmlformats.org/officeDocument/2006/relationships/notesSlide" Target="/ppt/notesSlides/notesSlide19.xml" Id="Rc63d2fa03e00479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b7dc76082214412" /><Relationship Type="http://schemas.openxmlformats.org/officeDocument/2006/relationships/notesSlide" Target="/ppt/notesSlides/notesSlide20.xml" Id="R2a869cf22a5c457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D3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9EA13A-7940-4DDA-BF88-C684670D0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79D4C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9D4CA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4A2125-A546-4CBA-9DD9-91C015E7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 for the next</a:t>
            </a:r>
          </a:p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voice AI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A5DC50-AF41-4F6B-A19F-B5FD1722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D7E6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D7E6E8"/>
                </a:solidFill>
                <a:latin typeface="Arial"/>
                <a:ea typeface="Arial"/>
                <a:cs typeface="Arial"/>
              </a:rPr>
              <a:t>Amazon Connect, ACXD and third-party options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5A5F70-072D-488F-85F5-D7CABB6E4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6CBCD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67588E-6781-4504-B4DB-308741B9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B6CBCD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B6CB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4AE1-5142-4C0C-BA6C-667A8C59D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9087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local evaluation harness that makes</a:t>
            </a:r>
          </a:p>
          <a:p xmlns:a="http://schemas.openxmlformats.org/drawingml/2006/main">
            <a:pPr>
              <a:defRPr sz="27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agent behaviour inspectable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D111B4-A94D-4B71-BC5A-94435F83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9D4CA"/>
                </a:solidFill>
                <a:latin typeface="Arial"/>
                <a:ea typeface="Arial"/>
                <a:cs typeface="Arial"/>
              </a:rPr>
              <a:t>Prototype briefing</a:t>
            </a:r>
          </a:p>
          <a:p xmlns:a="http://schemas.openxmlformats.org/drawingml/2006/main">
            <a:pPr>
              <a:defRPr sz="1725" b="0">
                <a:solidFill>
                  <a:srgbClr val="79D4C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79D4CA"/>
                </a:solidFill>
                <a:latin typeface="Arial"/>
                <a:ea typeface="Arial"/>
                <a:cs typeface="Arial"/>
              </a:rPr>
              <a:t>Results through 30 October 2026</a:t>
            </a:r>
          </a:p>
        </p:txBody>
      </p:sp>
    </p:spTree>
    <p:extLst>
      <p:ext uri="{BB962C8B-B14F-4D97-AF65-F5344CB8AC3E}">
        <p14:creationId xmlns:p14="http://schemas.microsoft.com/office/powerpoint/2010/main" val="5418488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C67811-E409-44AD-B37B-DAECCA353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EE1DAA-1D1C-4BC6-B316-BFDA0242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evidence supports a controlled pilot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2914C-03E6-482E-9801-4CBBC099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Recommendation: retain the Connect baseline while testing a challenger and a hybrid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2C80FD-1511-469A-AD34-D6729E6C1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8328DE-2700-41D0-B1BD-3C841E80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D1615-096E-489D-B2BD-92C4EF5B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What the prototype establishes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9F628-3A34-4F37-8D4F-F23C82B3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600 current standard-prompt cells completed across five providers.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report finds no clear quality winner. Failures reveal specific changes to test.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11A2B-278A-4B0A-B125-5B87A0EAB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532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What the decision still needs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C01ABD-14CA-4FF8-B4DD-41C3ACD5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53244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Matched tests of the deployed Connect/ACXD journey against the alternatives.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Customer experience, total cost and operational readiness must justify a move.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0470A2-2C23-4FB6-9A80-640C99CB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merged report adds 120 GPT-Live cells from 28 October. Those cells use a different prompt and caller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9403883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D576C-C72E-4FB0-B542-0F107BF5B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F50536-014B-4800-B08F-22F779F8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Three viable deployment choices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13EAB-ED03-4A73-98F5-92D5F006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Changing the conversational agent does not necessarily require replacing the contact centre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F028C0-BFB8-4A39-88A2-01AA122C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203C80-3F4D-41D7-9C60-CDB9BBD2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272C2C-2BEF-4257-9C22-1507735E8B28}"/>
              </a:ext>
            </a:extLst>
          </p:cNvPr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111252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28875"/>
                <a:gridCol w="4124325"/>
                <a:gridCol w="4572000"/>
              </a:tblGrid>
              <a:tr h="419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Option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Business rationale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needed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892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Native Connect / ACXD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Retain existing routing and operations. Configure the conversational application.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Does the configured journey meet outcome and experience thresholds?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892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Connect + external agent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Keep Connect and introduce an external conversational specialist.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Does the combined path improve outcomes after handoff and integration costs?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21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Third-party replacement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Change the broader platform where the business case warrants it.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Does benefit exceed migration, integration and operating costs?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C1903-1959-4703-A2B8-B5A9A84D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AWS documents external A2A integration. Compatibility, account tier and region require validation. Replacement is a strategic option, not a harness finding.</a:t>
            </a:r>
          </a:p>
        </p:txBody>
      </p:sp>
    </p:spTree>
    <p:extLst>
      <p:ext uri="{BB962C8B-B14F-4D97-AF65-F5344CB8AC3E}">
        <p14:creationId xmlns:p14="http://schemas.microsoft.com/office/powerpoint/2010/main" val="84194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288E99-92C8-4B5F-B701-BFD3EDD76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56A1E1-6C83-4B6F-BD81-6A0B9BC4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harness adds a common evidence standard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EED50A-BB4F-42F3-A5CE-E3C840FC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Native platform tests and independent cross-provider evaluation serve complementary purposes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4405D-C800-4A0E-AE07-D17ABD550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B3686-11EF-4BEE-8ABC-CAE04325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4E0B3-EFD8-48E7-BDF3-705078357674}"/>
              </a:ext>
            </a:extLst>
          </p:cNvPr>
          <p:cNvGraphicFramePr/>
          <p:nvPr/>
        </p:nvGraphicFramePr>
        <p:xfrm>
          <a:off xmlns:a="http://schemas.openxmlformats.org/drawingml/2006/main" x="533400" y="2476500"/>
          <a:ext xmlns:a="http://schemas.openxmlformats.org/drawingml/2006/main" cx="11125200" cy="3095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5000625"/>
                <a:gridCol w="3743325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Evaluation layer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Documented capability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Role in a buying decision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892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Connect and ACXD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Application, flow, routing and simulation tests. AWS added flow-action outcome validation in October 2026.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Validate the configured AWS experience.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892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Third-party tooling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ElevenLabs supports multi-turn simulations and repeated probabilistic tests.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Develop and regress a vendor-specific agent.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921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Voice Harness prototype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Shared scenarios, guarded tools, speech checks, paired reports and signed evidence.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Apply consistent buyer-defined tests across selected configurations.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8CC8F0-330F-41F4-9DBD-C497B4C3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This is a comparison of documented purposes. The harness has not established superior test accuracy versus these products.</a:t>
            </a:r>
          </a:p>
        </p:txBody>
      </p:sp>
    </p:spTree>
    <p:extLst>
      <p:ext uri="{BB962C8B-B14F-4D97-AF65-F5344CB8AC3E}">
        <p14:creationId xmlns:p14="http://schemas.microsoft.com/office/powerpoint/2010/main" val="1901146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767C5-863F-4EE7-97A5-5363FD92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807C3-CA64-4488-A967-852119BDF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 working prototype with a bounded remit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4C208-D782-4DA6-8CF4-66E03F2D8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local application supports real evaluation work, with narrower pilots for interactive calling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09D01F-3059-4019-8486-8A947673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44C2CB-B006-4973-8640-D9428FFA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333BB-5C37-44CC-B5C5-9CA093D1E381}"/>
              </a:ext>
            </a:extLst>
          </p:cNvPr>
          <p:cNvGraphicFramePr/>
          <p:nvPr/>
        </p:nvGraphicFramePr>
        <p:xfrm>
          <a:off xmlns:a="http://schemas.openxmlformats.org/drawingml/2006/main" x="533400" y="2428875"/>
          <a:ext xmlns:a="http://schemas.openxmlformats.org/drawingml/2006/main" cx="11125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362450"/>
                <a:gridCol w="390525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Available today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enables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Six live provider configurations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Compare voice agents through a common scenario and tool environment.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Direct provider tests are not a Connect benchmark.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40 live scenarios in five groups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Exercise happy paths, identity, vulnerability, faults and payments.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Synthetic banking coverage, not production traffic.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Local admin and evidence workflow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Configure runs, inspect outcomes, compare providers and export proof.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Local control still calls cloud providers for live tests.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Interactive caller and telephone pilots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Explore live dialogue and external phone transport.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Bounded diagnostics. General end-to-end platform validation remains open.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00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E60590-DD66-4331-B5D1-A5680AC12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A9C105-B36E-4487-8344-B786A143B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evaluation process preserves the evidence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C6223-0684-41C8-AC37-E816AA9A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 repeatable workflow separates behaviour, enforcement and assessment failures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C767C4-3355-4FDB-AC1B-59D03189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179C52-FE9F-4EEA-81F4-42629072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2C76D2-7B63-4211-8F8B-F7B00B7C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19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01  Define the decision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ACA02E-D4BE-47C3-91E1-B8E7DC4BF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3370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Freeze journeys, expected tools, prompts, voices and success criteria.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54AB26-B270-45D3-8251-A19C944A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86175"/>
            <a:ext cx="519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02  Prove the connection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B8F009-20AD-46DE-ABA9-B740C3AF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9575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Preflight must record caller audio, policy-tool execution and assistant audio.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1C3506-BE5F-46C2-AF62-CA1C77609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48225"/>
            <a:ext cx="519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03  Exercise the agent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7DB11B-3EDB-4423-B0D9-D25D3DC3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5780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Run repeated scenarios with guarded tools, faults and controlled caller audio.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FB820-63E5-4A36-9BE4-B879EE7E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19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04  Assess what happened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BD7C42-1282-42A7-A3D3-6EBFFF2D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3370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Check tool actions and transcribed speech. Record advisory judge views.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1AEA6A-7CF4-4076-BD9C-64E5AC65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686175"/>
            <a:ext cx="519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05  Inspect exceptions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A06CFE-C97F-4EE1-AD2B-292BC30E3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09575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Separate model failures from adapter faults, missing evidence and retries.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AADF45-4B20-4785-BAF5-F28C41A6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48225"/>
            <a:ext cx="51911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06  Compare and retain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277D80-4EBF-476C-9D8F-83336E81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57800"/>
            <a:ext cx="5191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Use paired uncertainty estimates and signed evidence bundles for review.</a:t>
            </a:r>
          </a:p>
        </p:txBody>
      </p:sp>
    </p:spTree>
    <p:extLst>
      <p:ext uri="{BB962C8B-B14F-4D97-AF65-F5344CB8AC3E}">
        <p14:creationId xmlns:p14="http://schemas.microsoft.com/office/powerpoint/2010/main" val="12795554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FC578A-283E-4E8A-BD2A-9E0E25A3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7148-89EF-4EAB-A037-CC140F1D7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Safety, task execution and speech need separate checks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419F1-4FAE-4DC1-98E6-F90E0E33D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An assurance pass cannot substitute for a completed customer request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979BAF-5C8F-48BE-A32F-3AFBCA78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95E1EA-08D8-466B-94B7-6DB11B77F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AD49B-497E-42E3-BF28-6620A81EE642}"/>
              </a:ext>
            </a:extLst>
          </p:cNvPr>
          <p:cNvGraphicFramePr/>
          <p:nvPr/>
        </p:nvGraphicFramePr>
        <p:xfrm>
          <a:off xmlns:a="http://schemas.openxmlformats.org/drawingml/2006/main" x="533400" y="2428875"/>
          <a:ext xmlns:a="http://schemas.openxmlformats.org/drawingml/2006/main" cx="11125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381500"/>
                <a:gridCol w="4029075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Assurance pass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Mandatory scoped checks pass on a completed run.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Can pass even when the requested tool never runs.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Task completion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Expected tool sequence executes with declared arguments.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Execution evidence, not full customer satisfaction.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Factual and safe speech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Independent ASR plus deterministic rules assess the reply.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No-claim replies are excluded from factual accuracy.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Responsiveness and cost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First provider audio and recorded usage estimates.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First audio may be a filler. Cost is incomplete.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D754F3-58A0-4A0E-A2BC-F46DCC282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Missing evidence stays untestable or review-required. AI judges provide advisory dissent for the mandatory deterministic checks.</a:t>
            </a:r>
          </a:p>
        </p:txBody>
      </p:sp>
    </p:spTree>
    <p:extLst>
      <p:ext uri="{BB962C8B-B14F-4D97-AF65-F5344CB8AC3E}">
        <p14:creationId xmlns:p14="http://schemas.microsoft.com/office/powerpoint/2010/main" val="37982354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7C3743-A5CD-4213-BDBF-63A9A41B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DD04FF-7915-40B8-B91F-E2ADBDE81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600 current cells, plus 120 historical cells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1615A3-D226-448D-8C25-DC8D5E40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Latest published assessment: 29–30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AB16B-00E5-429E-8BA1-77B96F1B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C3D642-6B7A-4B0C-AC02-61BD6813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542A4F-AC9F-471A-96C7-C9CA5C455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523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600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F4D7B9-627E-4A6E-939E-3CF55A11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5191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Five providers × 40 scenarios × 3 repetitions</a:t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Standardised banking prompt and normalised voices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F991B-0CEA-490C-86B9-686F75E0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67000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defPPr>
            <a:lvl1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1pPr>
            <a:lvl2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2pPr>
            <a:lvl3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3pPr>
            <a:lvl4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4pPr>
            <a:lvl5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5pPr>
            <a:lvl6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6pPr>
            <a:lvl7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7pPr>
            <a:lvl8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8pPr>
            <a:lvl9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6300" b="1">
                <a:solidFill>
                  <a:srgbClr val="966116"/>
                </a:solidFill>
                <a:latin typeface="Arial"/>
                <a:ea typeface="Arial"/>
                <a:cs typeface="Arial"/>
              </a:defRPr>
            </a:pPr>
            <a:r>
              <a:rPr sz="6300" b="1">
                <a:solidFill>
                  <a:srgbClr val="966116"/>
                </a:solidFill>
                <a:latin typeface="Arial"/>
                <a:ea typeface="Arial"/>
                <a:cs typeface="Arial"/>
              </a:rPr>
              <a:t>+120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39B45A-913B-430C-9855-15ED7470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10000"/>
            <a:ext cx="518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GPT-Live cells carried over from 28 October</a:t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Different prompt profile, voice setup and caller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EF72C0-1C35-4552-9BE5-5FB21973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GPT-Live failed the standard-prompt preflight twice by answering without the required policy tool. Its carried-over row is contextual evidence.</a:t>
            </a:r>
          </a:p>
        </p:txBody>
      </p:sp>
    </p:spTree>
    <p:extLst>
      <p:ext uri="{BB962C8B-B14F-4D97-AF65-F5344CB8AC3E}">
        <p14:creationId xmlns:p14="http://schemas.microsoft.com/office/powerpoint/2010/main" val="21162263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36D3D-1ED6-4A61-987D-7AAED55E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69FE63-9803-49F4-9A18-89C7FD98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Quality scores are close, with no clear winner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EBCA7-398A-4F06-A41C-23A440BB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group-balanced quality composite excludes latency and is not a percentage of successful calls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72326-624C-4689-A466-93E177F58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5F206C-CA79-43B9-9D54-AB1F6CF64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5D50B-B064-4321-B235-3A3AE053A839}"/>
              </a:ext>
            </a:extLst>
          </p:cNvPr>
          <p:cNvGraphicFramePr/>
          <p:nvPr/>
        </p:nvGraphicFramePr>
        <p:xfrm>
          <a:off xmlns:a="http://schemas.openxmlformats.org/drawingml/2006/main" x="533400" y="2381250"/>
          <a:ext xmlns:a="http://schemas.openxmlformats.org/drawingml/2006/main" cx="111252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1857375"/>
                <a:gridCol w="2190750"/>
                <a:gridCol w="2190750"/>
                <a:gridCol w="2171700"/>
              </a:tblGrid>
              <a:tr h="4191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Quality score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Assurance passes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Tool completion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Factual passes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Nova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0.975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120/120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29/36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17/17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GPT-Realtime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0.985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120/120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35/36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18/18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Gemini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0.993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118/120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35/36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21/21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xAI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0.995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117/120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36/36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20/20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ElevenLabs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0.996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117/120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36/36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21/21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458788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GPT-Live 1 *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0.995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120/120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33/36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17/17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8B5B6-5AF1-41AF-9157-DA450E216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Raw counts shown alongside weighted scores. Factual denominators contain assessable claims only. * GPT-Live is carried over and not like for like.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1371B-EDD7-4463-8E75-4D48167F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0552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Top-versus-runner-up quality difference: 95% interval −0.011 to +0.023, spanning zero.</a:t>
            </a:r>
          </a:p>
        </p:txBody>
      </p:sp>
    </p:spTree>
    <p:extLst>
      <p:ext uri="{BB962C8B-B14F-4D97-AF65-F5344CB8AC3E}">
        <p14:creationId xmlns:p14="http://schemas.microsoft.com/office/powerpoint/2010/main" val="18020692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9EA07B-A974-4CD6-BE9C-ACBB8010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4FD669-9CF6-4054-902C-CB20FF935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Tool execution reveals gaps behind safety passes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5D398A-B5F7-49CF-B14D-ABEB5D090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Nova passed assurance in 120/120 runs, while completing 29/36 expected tool sequences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ABC61-DDFE-4F2F-9609-C528EC50A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F3D97-7A56-46A2-AE6C-8951C8DF6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4A1D8-46A6-4CA1-922C-EC2B759CE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Human handoff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502600-BAEC-4454-889F-E30F28FE2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Standard prompt: 1 of 3 runs called the handoff tool.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 spoken promise to transfer does not prove a transfer occurred.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759D93-4209-4CE9-8A6B-EDABA4F6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532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Transaction lookup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00DC8C-AC92-4F7C-B70B-448BE6E00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53244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Standard prompt: 0 of 3 runs passed the expected transaction identifier.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 plausible answer does not prove the correct record was retrieved.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59404D-63C1-4AD2-ACCB-C10F5397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Separate diagnostic: targeted instructions improved handoff to 3/3 and identifier accuracy to 2/3. Only three repeats per case, outside the ranking.</a:t>
            </a:r>
          </a:p>
        </p:txBody>
      </p:sp>
    </p:spTree>
    <p:extLst>
      <p:ext uri="{BB962C8B-B14F-4D97-AF65-F5344CB8AC3E}">
        <p14:creationId xmlns:p14="http://schemas.microsoft.com/office/powerpoint/2010/main" val="548903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B9AC60-56CB-42D3-862A-9A3C6911F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3C58E6-3A3A-45DA-850F-8B5632466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harness also exposes defects in the test itself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F662DD-D1B7-48B6-B3BE-8D004883A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Evidence review prevented infrastructure and adapter issues from becoming provider conclusions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38714-6583-430D-A42B-DE59269AD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AFA1F-71DC-4F5D-8A34-DF6FEB1CA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F56707-241A-40C6-B4CC-08724AA4D872}"/>
              </a:ext>
            </a:extLst>
          </p:cNvPr>
          <p:cNvGraphicFramePr/>
          <p:nvPr/>
        </p:nvGraphicFramePr>
        <p:xfrm>
          <a:off xmlns:a="http://schemas.openxmlformats.org/drawingml/2006/main" x="533400" y="2428875"/>
          <a:ext xmlns:a="http://schemas.openxmlformats.org/drawingml/2006/main" cx="11125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4953000"/>
                <a:gridCol w="3457575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Observed issue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Investigation and correction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changed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9874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Seven cells lacked ASR evidence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 rate-limit failure left speech unchecked. Fresh runs replaced affected samples under a ledger-based rule.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Nova factual score moved from 0.643 to 1.000. The dip was not wrong answers.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9874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Three ElevenLabs interruption cells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An adapter closed a reply too early and dropped a tool call. The adapter fix restored execution on rerun.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ElevenLabs factual score moved from 0.750 to 1.000.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874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GPT-Live standard preflight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Two fresh attempts answered without calling the required policy tool. The gate remained in place.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No standard-prompt GPT-Live cells entered the current cohort.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E419DE-FB83-4890-85A2-668DAEDA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Reruns replace samples rather than add independent observations. Earlier attempts remain recorded. ElevenLabs has mixed adapter versions.</a:t>
            </a:r>
          </a:p>
        </p:txBody>
      </p:sp>
    </p:spTree>
    <p:extLst>
      <p:ext uri="{BB962C8B-B14F-4D97-AF65-F5344CB8AC3E}">
        <p14:creationId xmlns:p14="http://schemas.microsoft.com/office/powerpoint/2010/main" val="18071660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5C9000-EF75-4EB0-8C24-CC158F64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C70CCC-8CAA-4C3E-80FD-DB609E5EC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Latency observations do not establish a speed winner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86FBBC-3410-4A3B-BD0C-90B230C2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Different turn-control methods and assessment holds limit interpretation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5CBE2-CF4A-4489-8CCF-02D75071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19792-E906-4231-9860-D2614DC6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CA1FA5-4601-4840-A6E4-B09B75BFBB48}"/>
              </a:ext>
            </a:extLst>
          </p:cNvPr>
          <p:cNvGraphicFramePr/>
          <p:nvPr/>
        </p:nvGraphicFramePr>
        <p:xfrm>
          <a:off xmlns:a="http://schemas.openxmlformats.org/drawingml/2006/main" x="533400" y="2381250"/>
          <a:ext xmlns:a="http://schemas.openxmlformats.org/drawingml/2006/main" cx="111252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2381250"/>
                <a:gridCol w="2381250"/>
                <a:gridCol w="350520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Configuration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Median first audio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90th percentile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Recorded turn control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Nova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1.28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1.81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Provider endpointing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GPT-Realtime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1.38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1.72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Explicit commit + 500 ms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Gemini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1.50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1.81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Explicit commit + 500 ms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xAI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1.51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1.81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Explicit commit + 500 ms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ElevenLabs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2.02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2.37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Provider endpointing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4540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GPT-Live 1 *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1.60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2.31 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Provider endpointing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54204D-9EFC-4611-81C2-51122228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67375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From caller speech end to first provider audio, excluding playback and assessment delay. * GPT-Live timing is estimated and carried over.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088006-B6FC-4E8E-AEC7-F2B26063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Next decision metric: caller-perceived time to a useful answer on the same deployed telephone path.</a:t>
            </a:r>
          </a:p>
        </p:txBody>
      </p:sp>
    </p:spTree>
    <p:extLst>
      <p:ext uri="{BB962C8B-B14F-4D97-AF65-F5344CB8AC3E}">
        <p14:creationId xmlns:p14="http://schemas.microsoft.com/office/powerpoint/2010/main" val="78661012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41F62-E11A-40E2-B777-F2337527B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71C161-09D4-419A-AD58-39A50C80F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Customer preference and economics remain open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E5D7B5-179C-46B0-80B0-30CEB84F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prototype produces decision inputs, but the present evidence cannot establish ROI or preferred voice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3F21C-A4F2-469C-89FA-B1590A880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2D34F-9C05-41A9-B74E-F389BBA7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51B147-E017-4BE4-843E-D684B9D7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Experience and judge confidence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A96CB-AA0C-48AA-97D5-20029D54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144 recorded conversations support listening review. Blind human preference results remain pending.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No AI judge policy is approved. The latest report records no matching calibration report for its judge bindings.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C3CA86-F844-4938-8371-3B3D028F4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532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Whole-journey economics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0680F-446B-422F-8A60-962B5529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53244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Historical run costs omit judge spend and parts of evaluation overhead. Pricing and billing methods also differ.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Compare cost per resolved contact, including telephony, platform, retries, human fallback and operations.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26F59A-E3DA-4B37-ABED-6DB939BE6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OpenAI ASR also assesses OpenAI agents, creating a same-vendor dependency. Two judges do not remove this source of correlated error.</a:t>
            </a:r>
          </a:p>
        </p:txBody>
      </p:sp>
    </p:spTree>
    <p:extLst>
      <p:ext uri="{BB962C8B-B14F-4D97-AF65-F5344CB8AC3E}">
        <p14:creationId xmlns:p14="http://schemas.microsoft.com/office/powerpoint/2010/main" val="97688422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FC861C-6B71-4021-BE18-0C5B67CC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391812-8246-44B2-8524-5646A5267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 matched pilot can answer the Connect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8C083-0D2B-45C4-A507-76599B60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Proposed extension: compare deployed journeys under the same customer and business conditions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6282D2-D0F6-444E-B1F9-CECA43CCB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4ECB94-7950-4EED-A8FC-AC0D6A9F9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25A195-6F32-41AB-A599-ACE62F533A9F}"/>
              </a:ext>
            </a:extLst>
          </p:cNvPr>
          <p:cNvGraphicFramePr/>
          <p:nvPr/>
        </p:nvGraphicFramePr>
        <p:xfrm>
          <a:off xmlns:a="http://schemas.openxmlformats.org/drawingml/2006/main" x="533400" y="2428875"/>
          <a:ext xmlns:a="http://schemas.openxmlformats.org/drawingml/2006/main" cx="11125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4572000"/>
                <a:gridCol w="3981450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Pilot step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 to retain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Connect baseline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Use the actual AI agent or ACXD build, tools, knowledge and escalation route.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Build/version, contact trace, tool outcomes and caller audio.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Hybrid challenger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Run an external agent through Connect using a supported integration.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Handoff, context continuity, latency and recovery outcomes.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Third-party path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Run the same journey on the proposed alternative deployment.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Equivalent business outcomes and full operating costs.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Common evaluation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Hold data and rules constant. Randomise ordering and use blinded human review.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Failures, exclusions, confidence intervals and a signed decision pack.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4A9BF7-FFA2-4571-8056-672D447A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This end-to-end comparison is proposed work. The current Nova adapter tests a direct provider configuration, not Connect or ACXD.</a:t>
            </a:r>
          </a:p>
        </p:txBody>
      </p:sp>
    </p:spTree>
    <p:extLst>
      <p:ext uri="{BB962C8B-B14F-4D97-AF65-F5344CB8AC3E}">
        <p14:creationId xmlns:p14="http://schemas.microsoft.com/office/powerpoint/2010/main" val="26529490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2557F-A0DB-4469-8FE5-53EBA706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48585-17D5-438A-AB1D-3D653577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hybrid route has concrete integration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3624C-841F-42BC-A9C5-AAB7596FC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AWS documents the option, but implementation and control ownership require a pilot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AA5CD-3D01-43E6-9960-A108D7D0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329F69-E975-43FD-BB31-B76AC00C5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8D6E78-53E2-406B-B858-C0A027CEE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Prerequisites to validate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5C359C-5BDF-4CFF-9BA4-DDB3F425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Connect Customer tier and a compatible external A2A server.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Audio uses a secure WebSocket. AWS recommends a voice-streaming review with the account team.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BFE95-8F5C-4217-A0C0-9735C3CEC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532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Audio handoff constraints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38820D-ECFD-4B17-B53D-720B2B10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53244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Immediate handoff to a single external collaborator.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handing-off AI agent has restrictions on prompts, guardrails and tools. Validate controls on the external path explicitly.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ACB0E6-8BC7-40DB-9407-E0C8D94F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AWS setup is API-only. These are documented integration requirements, not evidence that the harness or every tested vendor supports the path.</a:t>
            </a:r>
          </a:p>
        </p:txBody>
      </p:sp>
    </p:spTree>
    <p:extLst>
      <p:ext uri="{BB962C8B-B14F-4D97-AF65-F5344CB8AC3E}">
        <p14:creationId xmlns:p14="http://schemas.microsoft.com/office/powerpoint/2010/main" val="197300339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C024C-0F4D-437B-A715-C997B7C1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D5D434-1C39-431B-B5F7-30056812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The decision should follow pre-agreed business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26C84-C988-46BA-9178-DA11BD5C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Illustrative acceptance framework for the pilot, to be agreed by the business and risk owners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A030DB-A517-4CAB-884F-49C19F00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D44287-1525-4C96-ACFC-A073992C9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05510-BB4C-4222-BD7F-FE014B81D863}"/>
              </a:ext>
            </a:extLst>
          </p:cNvPr>
          <p:cNvGraphicFramePr/>
          <p:nvPr/>
        </p:nvGraphicFramePr>
        <p:xfrm>
          <a:off xmlns:a="http://schemas.openxmlformats.org/drawingml/2006/main" x="533400" y="2428875"/>
          <a:ext xmlns:a="http://schemas.openxmlformats.org/drawingml/2006/main" cx="11125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5429250"/>
                <a:gridCol w="3171825"/>
              </a:tblGrid>
              <a:tr h="4191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Gate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evidence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Consequence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Safety and control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No prohibited action or disclosure in the agreed test set. Review every exception.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Any unresolved critical finding blocks progression.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Customer outcome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Correct resolution and human handoff across representative journeys, with uncertainty reported.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 challenger must show a repeatable benefit.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Experience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Blinded preference, interruption recovery and end-to-end answer latency.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A faster first sound alone does not justify migration.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Economics and operations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Full cost per resolved contact, support, security, residency, reliability and rollback.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Benefits must exceed migration and operating costs.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3A5A7-3CF0-4248-BCD1-B9AB184F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These are proposed decision criteria, not thresholds already passed by the prototype or any provider.</a:t>
            </a:r>
          </a:p>
        </p:txBody>
      </p:sp>
    </p:spTree>
    <p:extLst>
      <p:ext uri="{BB962C8B-B14F-4D97-AF65-F5344CB8AC3E}">
        <p14:creationId xmlns:p14="http://schemas.microsoft.com/office/powerpoint/2010/main" val="189121154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3C12D2-4102-4F09-A0CB-1AA1127AB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BFF4F-D2D7-4312-A4F0-1F58AA34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A six-week pilot can turn signals into a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6AC75F-909D-48DF-81E9-00E8563A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Illustrative plan, dependent on integration access and named owners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B76CB-BDEA-4DEB-96B1-8AC7D88D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3B4382-DCF6-45A7-AF5A-F72F45E3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FF0AB-759F-4E0E-82F2-83BFF6C6CCEC}"/>
              </a:ext>
            </a:extLst>
          </p:cNvPr>
          <p:cNvGraphicFramePr/>
          <p:nvPr/>
        </p:nvGraphicFramePr>
        <p:xfrm>
          <a:off xmlns:a="http://schemas.openxmlformats.org/drawingml/2006/main" x="533400" y="2428875"/>
          <a:ext xmlns:a="http://schemas.openxmlformats.org/drawingml/2006/main" cx="111252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90750"/>
                <a:gridCol w="3333750"/>
                <a:gridCol w="5600700"/>
              </a:tblGrid>
              <a:tr h="4191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When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Output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T w="5715">
                      <a:solidFill>
                        <a:srgbClr val="D6E2E3"/>
                      </a:solidFill>
                    </a:lnT>
                    <a:lnB w="5715">
                      <a:solidFill>
                        <a:srgbClr val="D6E2E3"/>
                      </a:solidFill>
                    </a:lnB>
                    <a:solidFill>
                      <a:srgbClr val="102D3A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Week 1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Business + risk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Prioritised journeys, acceptance criteria, baseline economics and holdout cases.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Weeks 2–3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Platform engineering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Matched Connect, hybrid and challenger paths with trace and audio capture.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Weeks 4–5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QA + operations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Repeated tests, blind listening and failure review. More sampling where uncertainty matters.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ECF3F3"/>
                    </a:solidFill>
                  </a:tcPr>
                </a:tc>
              </a:tr>
              <a:tr h="740569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Week 6</a:t>
                      </a:r>
                    </a:p>
                  </a:txBody>
                  <a:tcPr marL="114300" marR="114300" marT="38100" marB="38100">
                    <a:lnL w="5715">
                      <a:solidFill>
                        <a:srgbClr val="D6E2E3"/>
                      </a:solidFill>
                    </a:lnL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Business sponsor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D3A"/>
                          </a:solidFill>
                          <a:latin typeface="Arial"/>
                          <a:ea typeface="Arial"/>
                          <a:cs typeface="Arial"/>
                        </a:rPr>
                        <a:t>Stay, hybrid or migrate recommendation with costs, unresolved risks and rollback plan.</a:t>
                      </a:r>
                    </a:p>
                  </a:txBody>
                  <a:tcPr marL="114300" marR="114300" marT="38100" marB="38100">
                    <a:lnR w="5715">
                      <a:solidFill>
                        <a:srgbClr val="D6E2E3"/>
                      </a:solidFill>
                    </a:lnR>
                    <a:lnB w="5715">
                      <a:solidFill>
                        <a:srgbClr val="D6E2E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4AB5D0-5F73-42C2-9FB2-D1AB33CE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Integration effort and sample size require confirmation. The timetable is a planning assumption, not a delivery commitment.</a:t>
            </a:r>
          </a:p>
        </p:txBody>
      </p:sp>
    </p:spTree>
    <p:extLst>
      <p:ext uri="{BB962C8B-B14F-4D97-AF65-F5344CB8AC3E}">
        <p14:creationId xmlns:p14="http://schemas.microsoft.com/office/powerpoint/2010/main" val="7383135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6BA1E-4E80-418D-8E7D-4CC0E367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6DA3C4-CFE1-4C8F-9666-16C268A09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Local administration makes experiments reviewable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58DE43-F654-401F-9A8C-F0A90823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An operator can configure tests and inspect evidence in the same local workflow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E11915-9458-4DAA-99D0-AB21FF130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2B901-49C9-4352-B042-5C35A8F4C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B61F7-46D8-459C-B50B-A4CA881CF0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6cf0496044e93"/>
          <a:stretch xmlns:a="http://schemas.openxmlformats.org/drawingml/2006/main"/>
        </p:blipFill>
        <p:spPr>
          <a:xfrm xmlns:a="http://schemas.openxmlformats.org/drawingml/2006/main">
            <a:off x="1004888" y="2381250"/>
            <a:ext cx="6248400" cy="3905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8C5543-4DAE-4F70-AFF7-F50ED96FA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7175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Configure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D6CF6C-C694-4C33-B284-AD2D3F46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00375"/>
            <a:ext cx="3429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Provider, scenario, caller and evidence retention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2C5465-1B6C-4E50-A58E-8C30BDE6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52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Investigate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F9DBA6-F2F0-40FD-B311-82E35CA8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29125"/>
            <a:ext cx="342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Inspect outcomes, tool actions, transcripts and signed exports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7ED758-085F-49FB-BBE4-070D4BAA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715000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2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Actual local UI. Live AI caller remains a bounded pilot.</a:t>
            </a:r>
          </a:p>
        </p:txBody>
      </p:sp>
    </p:spTree>
    <p:extLst>
      <p:ext uri="{BB962C8B-B14F-4D97-AF65-F5344CB8AC3E}">
        <p14:creationId xmlns:p14="http://schemas.microsoft.com/office/powerpoint/2010/main" val="205339860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60D461-6356-42BD-B156-F04DD9503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45C282-DE82-48B1-A170-B57BA9E9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Prototype status remains the governing qualification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5B06A-AA0B-47EE-87C7-A623394D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Engineering progress supports further evaluation, not production certification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0F692-B630-49FD-97C8-EB6F59B2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81506-E496-44C9-81D2-2D3B3ED6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5E7C75-7557-4410-A40E-1026B775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05100"/>
            <a:ext cx="5095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Demonstrated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40DE7E-3ECA-4645-8CEA-66D00A57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24225"/>
            <a:ext cx="50958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Live multi-provider runs and repeated scenario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Independent tool enforcement, speech assessment and signed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Actionable findings from prompts, failures and adapters.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24E07-8DE6-49FA-8000-9F1B1BC6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705100"/>
            <a:ext cx="53244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Still to establish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EFE2DC-7660-4300-B8E7-EE019E49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324225"/>
            <a:ext cx="5324475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Matched Connect/ACXD and third-party deployment results.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Broader customer journeys, blind preference and full economics.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General adaptive telephone success and operational readiness.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949640-BEFD-4A2E-99B9-F45E037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111252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The harness remains a prototype even where repository engineering phases are marked complete. Passing its tests is not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8890057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D7A3A9-D9B5-4CC4-8DE0-0C6D8454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"/>
            <a:ext cx="1000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VOICE HARNESS  / 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F5FEB1-7F03-4798-A52F-D0EFC3FAF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1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2D3A"/>
                </a:solidFill>
                <a:latin typeface="Arial"/>
                <a:ea typeface="Arial"/>
                <a:cs typeface="Arial"/>
              </a:rPr>
              <a:t>Method and source register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5EF8D-4464-44A3-945D-1EFDE94B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62125"/>
            <a:ext cx="11125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Detailed citations and interpretation notes accompany each slide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B1EE5B-28CD-451B-993F-8CC08B73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67475"/>
            <a:ext cx="10572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Prototype evidence, synthetic banking scenarios, 31 October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3F6FC6-2C9D-40A6-A930-8F94BF63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67475"/>
            <a:ext cx="381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918E0-A7A5-4995-9512-497803F6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24125"/>
            <a:ext cx="514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Internal evidence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589C3-AB4D-4EDB-A930-8334360D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Latest report JSON and run notes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29–30 October 2026, with disclosed carry-over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Safeguards and assessor definitions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Scenario-cluster bootstrap: 1,000 resamples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40 scenario clusters, paired comparisons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Raw counts differ from group-balanced rates.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No observed failures does not imply zero risk.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A9A116-F35A-4F23-A8DC-E4085E5F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24125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defPPr>
            <a:lvl1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1pPr>
            <a:lvl2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2pPr>
            <a:lvl3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3pPr>
            <a:lvl4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4pPr>
            <a:lvl5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5pPr>
            <a:lvl6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6pPr>
            <a:lvl7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7pPr>
            <a:lvl8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8pPr>
            <a:lvl9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007F78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78"/>
                </a:solidFill>
                <a:latin typeface="Arial"/>
                <a:ea typeface="Arial"/>
                <a:cs typeface="Arial"/>
              </a:rPr>
              <a:t>External research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F02210-3641-4C90-8016-F35F47546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5324475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AWS: Agentic CX designer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AWS: Testing your application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AWS: Testing and Simulation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AWS: Flow-action validation, October 2026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AWS: External AI agent integration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ElevenLabs: Agent Testing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Official documentation accessed 31 October 2026.</a:t>
            </a:r>
          </a:p>
          <a:p xmlns:a="http://schemas.openxmlformats.org/drawingml/2006/main">
            <a:pPr>
              <a:defRPr sz="1800" b="0">
                <a:solidFill>
                  <a:srgbClr val="102D3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02D3A"/>
                </a:solidFill>
                <a:latin typeface="Arial"/>
                <a:ea typeface="Arial"/>
                <a:cs typeface="Arial"/>
              </a:rPr>
              <a:t>URLs appear in the slide notes and source brief.</a:t>
            </a:r>
          </a:p>
        </p:txBody>
      </p:sp>
    </p:spTree>
    <p:extLst>
      <p:ext uri="{BB962C8B-B14F-4D97-AF65-F5344CB8AC3E}">
        <p14:creationId xmlns:p14="http://schemas.microsoft.com/office/powerpoint/2010/main" val="8604257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2026-10-31T12:20:58.8540000Z</dcterms:created>
  <dcterms:modified xsi:type="dcterms:W3CDTF">2026-10-31T12:20:58.8540000Z</dcterms:modified>
</coreProperties>
</file>