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046d83e4994e2a" /><Relationship Type="http://schemas.openxmlformats.org/officeDocument/2006/relationships/extended-properties" Target="/docProps/app.xml" Id="R2cf2635f1dd34357" /><Relationship Type="http://schemas.openxmlformats.org/officeDocument/2006/relationships/officeDocument" Target="/ppt/presentation.xml" Id="Raa98644a55bb4c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c2aac27a414728"/>
  </p:sldMasterIdLst>
  <p:notesMasterIdLst>
    <p:notesMasterId xmlns:r="http://schemas.openxmlformats.org/officeDocument/2006/relationships" r:id="R8c46feee1b7b4ba5"/>
  </p:notesMasterIdLst>
  <p:sldIdLst>
    <p:sldId xmlns:r="http://schemas.openxmlformats.org/officeDocument/2006/relationships" id="256" r:id="R25b85a4dadc64b3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185e4119444476" /><Relationship Type="http://schemas.openxmlformats.org/officeDocument/2006/relationships/slideMaster" Target="/ppt/slideMasters/slideMaster1.xml" Id="Rf5c2aac27a414728" /><Relationship Type="http://schemas.openxmlformats.org/officeDocument/2006/relationships/notesMaster" Target="/ppt/notesMasters/notesMaster1.xml" Id="R8c46feee1b7b4ba5" /><Relationship Type="http://schemas.openxmlformats.org/officeDocument/2006/relationships/presProps" Target="/ppt/presProps.xml" Id="R45bd7ab0d9764a18" /><Relationship Type="http://schemas.openxmlformats.org/officeDocument/2006/relationships/tableStyles" Target="/ppt/tableStyles.xml" Id="R64f9814995c64509" /><Relationship Type="http://schemas.openxmlformats.org/officeDocument/2006/relationships/slide" Target="/ppt/slides/slide1.xml" Id="R25b85a4dadc64b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5f2e56dd1f4c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29162806bc4434" /><Relationship Type="http://schemas.openxmlformats.org/officeDocument/2006/relationships/notesMaster" Target="/ppt/notesMasters/notesMaster1.xml" Id="R1ed5c582ede24a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reusable harness tests provider-hosted voice services against common banking scenarios, giving us evidence to inform provider selection and assess the customer experience.</a:t>
            </a:r>
          </a:p>
          <a:p xmlns:a="http://schemas.openxmlformats.org/drawingml/2006/main">
            <a:r>
              <a:t>Models run with their providers. We use supported APIs to establish a baseline of each service as delivered.</a:t>
            </a:r>
          </a:p>
          <a:p xmlns:a="http://schemas.openxmlformats.org/drawingml/2006/main">
            <a:r>
              <a:t>40 synthetic banking scenarios cover routine requests, identity protection, vulnerable customers, faults and payments.</a:t>
            </a:r>
          </a:p>
          <a:p xmlns:a="http://schemas.openxmlformats.org/drawingml/2006/main">
            <a:r>
              <a:t>Automated checks and AI judges assess outcomes and safety. We also measure factual accuracy, response speed and estimated cost.</a:t>
            </a:r>
          </a:p>
          <a:p xmlns:a="http://schemas.openxmlformats.org/drawingml/2006/main">
            <a:r>
              <a:t>Comparison reports show the evidence behind the scores. Recorded conversations let us listen to voices and customer experiences.</a:t>
            </a:r>
          </a:p>
          <a:p xmlns:a="http://schemas.openxmlformats.org/drawingml/2006/main">
            <a:r>
              <a:t>Next: extend the integrations and repeat the tests in our target deployment architecture.</a:t>
            </a:r>
          </a:p>
          <a:p xmlns:a="http://schemas.openxmlformats.org/drawingml/2006/main">
            <a:r>
              <a:t>Common criteria support comparability. Provider settings still differ, and listening complements automated scores.</a:t>
            </a:r>
          </a:p>
          <a:p xmlns:a="http://schemas.openxmlformats.org/drawingml/2006/main">
            <a:r>
              <a:t>In the demonstration: follow a scenario, review its results and replay the conversation.</a:t>
            </a:r>
          </a:p>
          <a:p xmlns:a="http://schemas.openxmlformats.org/drawingml/2006/main">
            <a:r>
              <a:t>Sources: repository README.md and docs/ARCHITECTURE.md, inspected 30 October 2026. Implementation: src/voice_harness/adapters/, bakeoff_stats.py, bakeoff_metrics.py and judges/backends.py. Provider hosting alone does not guarantee equivalent configurations. AI judges remain advisory. Playback requires retained audio. Illustrations generated using the built-in image generation tool.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f13f9c844d41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16f7d0c6d43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8968b3577149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0e810d711940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a348e784149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23f57974041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728F94-04E4-486C-AAB2-A413A3F7FE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296675-9A09-456B-A4BD-8936D59E88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98FC023-805A-4923-BC58-79F20850BE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7EA01D-D24C-4AFA-88B9-6373345D94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3E7F972-76EC-414E-B27D-C0CB063117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FF3F3F-25CF-4A92-81F1-0D223C6C85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B58AC7-4925-48EE-8428-03455F3C80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27D961C-CDB1-4D48-B28E-F7D16612A8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CE4B85-CB56-4619-BEEA-592BDA4BB4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B8C7A3-B74F-49F7-973A-95CE67F9C2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373c7f08e7493b" /><Relationship Type="http://schemas.openxmlformats.org/officeDocument/2006/relationships/slideLayout" Target="/ppt/slideLayouts/slideLayout1.xml" Id="R4e1e9690527e4179" /><Relationship Type="http://schemas.openxmlformats.org/officeDocument/2006/relationships/slideLayout" Target="/ppt/slideLayouts/slideLayout2.xml" Id="R6429cced3bae4141" /><Relationship Type="http://schemas.openxmlformats.org/officeDocument/2006/relationships/slideLayout" Target="/ppt/slideLayouts/slideLayout3.xml" Id="Rde6fa2a3462243d7" /><Relationship Type="http://schemas.openxmlformats.org/officeDocument/2006/relationships/slideLayout" Target="/ppt/slideLayouts/slideLayout4.xml" Id="R99ec8fd7dc47470a" /><Relationship Type="http://schemas.openxmlformats.org/officeDocument/2006/relationships/slideLayout" Target="/ppt/slideLayouts/slideLayout5.xml" Id="Rf5f3ab999e5b4dba" /><Relationship Type="http://schemas.openxmlformats.org/officeDocument/2006/relationships/slideLayout" Target="/ppt/slideLayouts/slideLayout6.xml" Id="R5db47c7b47d44d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1e9690527e4179"/>
    <p:sldLayoutId xmlns:r="http://schemas.openxmlformats.org/officeDocument/2006/relationships" id="2147483650" r:id="R6429cced3bae4141"/>
    <p:sldLayoutId xmlns:r="http://schemas.openxmlformats.org/officeDocument/2006/relationships" id="2147483651" r:id="Rde6fa2a3462243d7"/>
    <p:sldLayoutId xmlns:r="http://schemas.openxmlformats.org/officeDocument/2006/relationships" id="2147483652" r:id="R99ec8fd7dc47470a"/>
    <p:sldLayoutId xmlns:r="http://schemas.openxmlformats.org/officeDocument/2006/relationships" id="2147483653" r:id="Rf5f3ab999e5b4dba"/>
    <p:sldLayoutId xmlns:r="http://schemas.openxmlformats.org/officeDocument/2006/relationships" id="2147483654" r:id="R5db47c7b47d44d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1d8e86082846cd" /><Relationship Type="http://schemas.openxmlformats.org/officeDocument/2006/relationships/image" Target="/ppt/media/image.png" Id="R739f7dea233749f8" /><Relationship Type="http://schemas.openxmlformats.org/officeDocument/2006/relationships/notesSlide" Target="/ppt/notesSlides/notesSlide1.xml" Id="Re882c53c81884d3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41260-FDC1-40FF-A90E-B8245082A0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f7dea233749f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CA36A-7D1F-41A4-B2BE-06877013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B84"/>
                </a:solidFill>
                <a:latin typeface="Arial"/>
                <a:ea typeface="Arial"/>
                <a:cs typeface="Arial"/>
              </a:rPr>
              <a:t>BUSINESS PRE-READ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58376-A308-422A-B18A-0EED20AE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23900"/>
            <a:ext cx="1400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defPPr>
            <a:lvl1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1pPr>
            <a:lvl2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2pPr>
            <a:lvl3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3pPr>
            <a:lvl4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4pPr>
            <a:lvl5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5pPr>
            <a:lvl6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6pPr>
            <a:lvl7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7pPr>
            <a:lvl8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8pPr>
            <a:lvl9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374B"/>
                </a:solidFill>
                <a:latin typeface="Arial"/>
                <a:ea typeface="Arial"/>
                <a:cs typeface="Arial"/>
              </a:rPr>
              <a:t>Comparing voice AI providers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88768-E5D7-42C1-8006-0AD3DAE1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38275"/>
            <a:ext cx="13811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74B"/>
                </a:solidFill>
                <a:latin typeface="Arial"/>
                <a:ea typeface="Arial"/>
                <a:cs typeface="Arial"/>
              </a:rPr>
              <a:t>A reusable harness tests provider-hosted voice services against common banking scenarios, giving us evidence to inform provider selection and assess the customer experience.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F196E-70D5-4161-918F-6161B26D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74B"/>
                </a:solidFill>
                <a:latin typeface="Arial"/>
                <a:ea typeface="Arial"/>
                <a:cs typeface="Arial"/>
              </a:rPr>
              <a:t>Provider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5B6A7-6608-40F1-B1B9-A2B6100A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86425"/>
            <a:ext cx="31908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74B"/>
                </a:solidFill>
                <a:latin typeface="Arial"/>
                <a:ea typeface="Arial"/>
                <a:cs typeface="Arial"/>
              </a:rPr>
              <a:t>Models run with their providers. We use supported APIs to establish a baseline of each service as delivered.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BE5AE-5C9D-449E-9867-9BF9151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197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74B"/>
                </a:solidFill>
                <a:latin typeface="Arial"/>
                <a:ea typeface="Arial"/>
                <a:cs typeface="Arial"/>
              </a:rPr>
              <a:t>Common scenarios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5F316-71F2-4188-B9EF-D26E9613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686425"/>
            <a:ext cx="31908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74B"/>
                </a:solidFill>
                <a:latin typeface="Arial"/>
                <a:ea typeface="Arial"/>
                <a:cs typeface="Arial"/>
              </a:rPr>
              <a:t>40 synthetic banking scenarios cover routine requests, identity protection, vulnerable customers, faults and payments.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553C9-7A84-4AA3-B8EE-7A844BCF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197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74B"/>
                </a:solidFill>
                <a:latin typeface="Arial"/>
                <a:ea typeface="Arial"/>
                <a:cs typeface="Arial"/>
              </a:rPr>
              <a:t>Common measures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2DE7B-30C6-4FD5-BBAD-8EF44B88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686425"/>
            <a:ext cx="31908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74B"/>
                </a:solidFill>
                <a:latin typeface="Arial"/>
                <a:ea typeface="Arial"/>
                <a:cs typeface="Arial"/>
              </a:rPr>
              <a:t>Automated checks and AI judges assess outcomes and safety. We also measure factual accuracy, response speed and estimated cost.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ABD89-787D-4DD7-A0A4-7F7AD169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2197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74B"/>
                </a:solidFill>
                <a:latin typeface="Arial"/>
                <a:ea typeface="Arial"/>
                <a:cs typeface="Arial"/>
              </a:rPr>
              <a:t>Reports and listening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2FFFF-1B22-405C-997C-DFC361CA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686425"/>
            <a:ext cx="31908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37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74B"/>
                </a:solidFill>
                <a:latin typeface="Arial"/>
                <a:ea typeface="Arial"/>
                <a:cs typeface="Arial"/>
              </a:rPr>
              <a:t>Comparison reports show the evidence behind the scores. Recorded conversations let us listen to voices and customer experiences.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D8AF0-9A7E-4C29-A80C-3C7F49D3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24725"/>
            <a:ext cx="14001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7B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7B84"/>
                </a:solidFill>
                <a:latin typeface="Arial"/>
                <a:ea typeface="Arial"/>
                <a:cs typeface="Arial"/>
              </a:rPr>
              <a:t>Next: extend the integrations and repeat the tests in our target deployment architecture.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23207-A33A-44D2-9D87-BE350B85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77175"/>
            <a:ext cx="1400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75F6B"/>
                </a:solidFill>
                <a:latin typeface="Arial"/>
                <a:ea typeface="Arial"/>
                <a:cs typeface="Arial"/>
              </a:rPr>
              <a:t>Common criteria support comparability. Provider settings still differ, and listening complements automated scores.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B634F-312D-435A-9E1A-4045921E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229600"/>
            <a:ext cx="1400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75F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75F6B"/>
                </a:solidFill>
                <a:latin typeface="Arial"/>
                <a:ea typeface="Arial"/>
                <a:cs typeface="Arial"/>
              </a:rPr>
              <a:t>In the demonstration: follow a scenario, review its results and replay the conversation.</a:t>
            </a:r>
          </a:p>
        </p:txBody>
      </p:sp>
    </p:spTree>
    <p:extLst>
      <p:ext uri="{BB962C8B-B14F-4D97-AF65-F5344CB8AC3E}">
        <p14:creationId xmlns:p14="http://schemas.microsoft.com/office/powerpoint/2010/main" val="374363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2026-10-30T12:26:51.2560000Z</dcterms:created>
  <dcterms:modified xsi:type="dcterms:W3CDTF">2026-10-30T12:26:51.2560000Z</dcterms:modified>
</coreProperties>
</file>