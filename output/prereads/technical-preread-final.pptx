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4a371bf5764794" /><Relationship Type="http://schemas.openxmlformats.org/officeDocument/2006/relationships/extended-properties" Target="/docProps/app.xml" Id="Rb30a14dde3d44327" /><Relationship Type="http://schemas.openxmlformats.org/officeDocument/2006/relationships/officeDocument" Target="/ppt/presentation.xml" Id="R0d8c472390b448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36edb05f1a42f0"/>
  </p:sldMasterIdLst>
  <p:notesMasterIdLst>
    <p:notesMasterId xmlns:r="http://schemas.openxmlformats.org/officeDocument/2006/relationships" r:id="Rb783cfccb58e4dc5"/>
  </p:notesMasterIdLst>
  <p:sldIdLst>
    <p:sldId xmlns:r="http://schemas.openxmlformats.org/officeDocument/2006/relationships" id="256" r:id="R8adde09ed7c74a1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12ed80b3cf49b5" /><Relationship Type="http://schemas.openxmlformats.org/officeDocument/2006/relationships/slideMaster" Target="/ppt/slideMasters/slideMaster1.xml" Id="R6436edb05f1a42f0" /><Relationship Type="http://schemas.openxmlformats.org/officeDocument/2006/relationships/notesMaster" Target="/ppt/notesMasters/notesMaster1.xml" Id="Rb783cfccb58e4dc5" /><Relationship Type="http://schemas.openxmlformats.org/officeDocument/2006/relationships/presProps" Target="/ppt/presProps.xml" Id="R1dae4ceca9c54b8d" /><Relationship Type="http://schemas.openxmlformats.org/officeDocument/2006/relationships/tableStyles" Target="/ppt/tableStyles.xml" Id="R542632cf1a2e40df" /><Relationship Type="http://schemas.openxmlformats.org/officeDocument/2006/relationships/slide" Target="/ppt/slides/slide1.xml" Id="R8adde09ed7c74a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5b45ecf8fc4a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56978f8c534b62" /><Relationship Type="http://schemas.openxmlformats.org/officeDocument/2006/relationships/notesMaster" Target="/ppt/notesMasters/notesMaster1.xml" Id="R8d14eb0013414b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provider-neutral harness connects to hosted voice services through adapters, runs common banking scenarios and separates model behaviour from the effectiveness of harness controls.</a:t>
            </a:r>
          </a:p>
          <a:p xmlns:a="http://schemas.openxmlformats.org/drawingml/2006/main">
            <a:r>
              <a:t>OpenAI and xAI endpoints, ElevenLabs Agents, Nova via Bedrock and Gemini via Vertex AI.</a:t>
            </a:r>
            <a:br/>
            <a:r>
              <a:t>We do not self-host the models.</a:t>
            </a:r>
          </a:p>
          <a:p xmlns:a="http://schemas.openxmlformats.org/drawingml/2006/main">
            <a:r>
              <a:t>40 scenarios use synthetic banking tools. Guardrails control actions and audio release. A blocked unsafe action remains a model failure.</a:t>
            </a:r>
          </a:p>
          <a:p xmlns:a="http://schemas.openxmlformats.org/drawingml/2006/main">
            <a:r>
              <a:t>Deterministic checks, independent transcription and advisory AI judges. Reports cover outcomes, latency, estimated cost and confidence intervals.</a:t>
            </a:r>
          </a:p>
          <a:p xmlns:a="http://schemas.openxmlformats.org/drawingml/2006/main">
            <a:r>
              <a:t>Hash-chained event records, signed evidence exports and retained-audio playback. Reports disclose configuration differences and evidence gaps.</a:t>
            </a:r>
          </a:p>
          <a:p xmlns:a="http://schemas.openxmlformats.org/drawingml/2006/main">
            <a:r>
              <a:t>Next: rerun scenarios in our target architecture to assess the impact of platform integration.</a:t>
            </a:r>
          </a:p>
          <a:p xmlns:a="http://schemas.openxmlformats.org/drawingml/2006/main">
            <a:r>
              <a:t>Current results describe configured services within the harness. They do not establish production readiness.</a:t>
            </a:r>
          </a:p>
          <a:p xmlns:a="http://schemas.openxmlformats.org/drawingml/2006/main">
            <a:r>
              <a:t>In the demonstration: inspect execution, compare verdicts and trace findings back to the conversation.</a:t>
            </a:r>
          </a:p>
          <a:p xmlns:a="http://schemas.openxmlformats.org/drawingml/2006/main">
            <a:r>
              <a:t>Sources: repository README.md and docs/ARCHITECTURE.md, inspected 30 October 2026. Implementation: src/voice_harness/adapters/, bakeoff_stats.py, bakeoff_metrics.py and judges/backends.py. Provider hosting alone does not guarantee equivalent configurations. AI judges remain advisory. Playback requires retained audio. Illustrations generated using the built-in image generation tool.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e3414e5a4845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ec473be204d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d230d759940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7f8cee28b4c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609381ee64d2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797aea4404c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47ACE4-F1DB-4F7C-BE2B-B01FC6335C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C0AE81-DDF5-41EE-9B6E-D0055A8B61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EDD36AE-B4E9-4E93-9809-988F866E2E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48484F-1EF9-4717-8567-01A0B132CA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C3A21C-F15B-4118-B34B-8BB8802A73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FB0437-71D2-48BC-AD0A-1535EA8E56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074636-0AE8-43A3-B86E-9FB39095ED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1B8EAFE-6A03-4981-A100-9DB1089A47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43D037-4754-4B43-BBF1-5793632F0D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6BBAAB-5805-47DC-BFFB-890980C1A2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b7fdbbca854277" /><Relationship Type="http://schemas.openxmlformats.org/officeDocument/2006/relationships/slideLayout" Target="/ppt/slideLayouts/slideLayout1.xml" Id="R5e580aa1aca24cbe" /><Relationship Type="http://schemas.openxmlformats.org/officeDocument/2006/relationships/slideLayout" Target="/ppt/slideLayouts/slideLayout2.xml" Id="Rc49eeda8978b4b4d" /><Relationship Type="http://schemas.openxmlformats.org/officeDocument/2006/relationships/slideLayout" Target="/ppt/slideLayouts/slideLayout3.xml" Id="Reacbc40cb5d4481e" /><Relationship Type="http://schemas.openxmlformats.org/officeDocument/2006/relationships/slideLayout" Target="/ppt/slideLayouts/slideLayout4.xml" Id="R84ceb87e93fe41a8" /><Relationship Type="http://schemas.openxmlformats.org/officeDocument/2006/relationships/slideLayout" Target="/ppt/slideLayouts/slideLayout5.xml" Id="R73d5465b17994d0d" /><Relationship Type="http://schemas.openxmlformats.org/officeDocument/2006/relationships/slideLayout" Target="/ppt/slideLayouts/slideLayout6.xml" Id="Re9af837b455047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580aa1aca24cbe"/>
    <p:sldLayoutId xmlns:r="http://schemas.openxmlformats.org/officeDocument/2006/relationships" id="2147483650" r:id="Rc49eeda8978b4b4d"/>
    <p:sldLayoutId xmlns:r="http://schemas.openxmlformats.org/officeDocument/2006/relationships" id="2147483651" r:id="Reacbc40cb5d4481e"/>
    <p:sldLayoutId xmlns:r="http://schemas.openxmlformats.org/officeDocument/2006/relationships" id="2147483652" r:id="R84ceb87e93fe41a8"/>
    <p:sldLayoutId xmlns:r="http://schemas.openxmlformats.org/officeDocument/2006/relationships" id="2147483653" r:id="R73d5465b17994d0d"/>
    <p:sldLayoutId xmlns:r="http://schemas.openxmlformats.org/officeDocument/2006/relationships" id="2147483654" r:id="Re9af837b455047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32e70a6d574740" /><Relationship Type="http://schemas.openxmlformats.org/officeDocument/2006/relationships/image" Target="/ppt/media/image.png" Id="R112a2d7cc61947ab" /><Relationship Type="http://schemas.openxmlformats.org/officeDocument/2006/relationships/notesSlide" Target="/ppt/notesSlides/notesSlide1.xml" Id="R3aa6880f4d6b412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66BAF-6264-4431-B055-CAEDC336AB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a2d7cc61947a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E63E9-C689-4C23-95A9-A164C33F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B84"/>
                </a:solidFill>
                <a:latin typeface="Arial"/>
                <a:ea typeface="Arial"/>
                <a:cs typeface="Arial"/>
              </a:rPr>
              <a:t>TECHNICAL PRE-READ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82D90-0405-4034-9B9B-4D194B87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23900"/>
            <a:ext cx="1400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374B"/>
                </a:solidFill>
                <a:latin typeface="Arial"/>
                <a:ea typeface="Arial"/>
                <a:cs typeface="Arial"/>
              </a:rPr>
              <a:t>Voice AI evaluation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7B386-651F-4455-8416-EBB21CAD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38275"/>
            <a:ext cx="13811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74B"/>
                </a:solidFill>
                <a:latin typeface="Arial"/>
                <a:ea typeface="Arial"/>
                <a:cs typeface="Arial"/>
              </a:rPr>
              <a:t>A provider-neutral harness connects to hosted voice services through adapters, runs common banking scenarios and separates model behaviour from the effectiveness of harness controls.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6ED63-2BA1-488A-9EC9-19411382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74B"/>
                </a:solidFill>
                <a:latin typeface="Arial"/>
                <a:ea typeface="Arial"/>
                <a:cs typeface="Arial"/>
              </a:rPr>
              <a:t>Hosted service APIs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A28F4-AB3B-4B03-B94F-48881B4B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86425"/>
            <a:ext cx="31908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74B"/>
                </a:solidFill>
                <a:latin typeface="Arial"/>
                <a:ea typeface="Arial"/>
                <a:cs typeface="Arial"/>
              </a:rPr>
              <a:t>OpenAI and xAI endpoints, ElevenLabs Agents, Nova via Bedrock and Gemini via Vertex AI.</a:t>
            </a:r>
          </a:p>
          <a:p xmlns:a="http://schemas.openxmlformats.org/drawingml/2006/main">
            <a: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74B"/>
                </a:solidFill>
                <a:latin typeface="Arial"/>
                <a:ea typeface="Arial"/>
                <a:cs typeface="Arial"/>
              </a:rPr>
              <a:t>We do not self-host the models.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9D589-6A08-45D1-9DC7-A0230922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197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74B"/>
                </a:solidFill>
                <a:latin typeface="Arial"/>
                <a:ea typeface="Arial"/>
                <a:cs typeface="Arial"/>
              </a:rPr>
              <a:t>Execution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D08ED-3F44-4122-90B7-95FF0618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86425"/>
            <a:ext cx="31908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74B"/>
                </a:solidFill>
                <a:latin typeface="Arial"/>
                <a:ea typeface="Arial"/>
                <a:cs typeface="Arial"/>
              </a:rPr>
              <a:t>40 scenarios use synthetic banking tools. Guardrails control actions and audio release. A blocked unsafe action remains a model failure.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2BC5D-CC61-4B5A-B3A4-84C376ED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197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74B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69BF1-2953-4C3D-952E-F4B910A0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686425"/>
            <a:ext cx="31908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74B"/>
                </a:solidFill>
                <a:latin typeface="Arial"/>
                <a:ea typeface="Arial"/>
                <a:cs typeface="Arial"/>
              </a:rPr>
              <a:t>Deterministic checks, independent transcription and advisory AI judges. Reports cover outcomes, latency, estimated cost and confidence intervals.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7914F-5769-489A-8B16-81133F04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2197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74B"/>
                </a:solidFill>
                <a:latin typeface="Arial"/>
                <a:ea typeface="Arial"/>
                <a:cs typeface="Arial"/>
              </a:rPr>
              <a:t>Traceable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B865E-136F-4167-AA9C-70D3D275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686425"/>
            <a:ext cx="31908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74B"/>
                </a:solidFill>
                <a:latin typeface="Arial"/>
                <a:ea typeface="Arial"/>
                <a:cs typeface="Arial"/>
              </a:rPr>
              <a:t>Hash-chained event records, signed evidence exports and retained-audio playback. Reports disclose configuration differences and evidence gaps.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DEAB0-353E-4A5B-AADA-32C4458E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24725"/>
            <a:ext cx="14001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7B84"/>
                </a:solidFill>
                <a:latin typeface="Arial"/>
                <a:ea typeface="Arial"/>
                <a:cs typeface="Arial"/>
              </a:rPr>
              <a:t>Next: rerun scenarios in our target architecture to assess the impact of platform integration.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0274D-587A-44EB-B068-78F88273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77175"/>
            <a:ext cx="1400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F6B"/>
                </a:solidFill>
                <a:latin typeface="Arial"/>
                <a:ea typeface="Arial"/>
                <a:cs typeface="Arial"/>
              </a:rPr>
              <a:t>Current results describe configured services within the harness. They do not establish production readiness.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7824AF-1772-45F9-99A9-53B080A6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229600"/>
            <a:ext cx="1400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F6B"/>
                </a:solidFill>
                <a:latin typeface="Arial"/>
                <a:ea typeface="Arial"/>
                <a:cs typeface="Arial"/>
              </a:rPr>
              <a:t>In the demonstration: inspect execution, compare verdicts and trace findings back to the conversation.</a:t>
            </a:r>
          </a:p>
        </p:txBody>
      </p:sp>
    </p:spTree>
    <p:extLst>
      <p:ext uri="{BB962C8B-B14F-4D97-AF65-F5344CB8AC3E}">
        <p14:creationId xmlns:p14="http://schemas.microsoft.com/office/powerpoint/2010/main" val="1612636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2026-10-30T13:54:49.6910000Z</dcterms:created>
  <dcterms:modified xsi:type="dcterms:W3CDTF">2026-10-30T13:54:49.6910000Z</dcterms:modified>
</coreProperties>
</file>